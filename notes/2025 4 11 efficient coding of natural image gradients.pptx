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4" r:id="rId3"/>
    <p:sldId id="273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57" d="100"/>
          <a:sy n="157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s, Abhranil" userId="9c3bab5a-3d97-44f6-bde7-7d357481cb18" providerId="ADAL" clId="{545A2A83-3C32-46C8-8E55-C1F449DB9562}"/>
    <pc:docChg chg="custSel modSld">
      <pc:chgData name="Das, Abhranil" userId="9c3bab5a-3d97-44f6-bde7-7d357481cb18" providerId="ADAL" clId="{545A2A83-3C32-46C8-8E55-C1F449DB9562}" dt="2025-04-14T22:11:44.892" v="5" actId="1076"/>
      <pc:docMkLst>
        <pc:docMk/>
      </pc:docMkLst>
      <pc:sldChg chg="addSp delSp modSp mod">
        <pc:chgData name="Das, Abhranil" userId="9c3bab5a-3d97-44f6-bde7-7d357481cb18" providerId="ADAL" clId="{545A2A83-3C32-46C8-8E55-C1F449DB9562}" dt="2025-04-14T22:11:44.892" v="5" actId="1076"/>
        <pc:sldMkLst>
          <pc:docMk/>
          <pc:sldMk cId="2680132195" sldId="273"/>
        </pc:sldMkLst>
        <pc:spChg chg="del">
          <ac:chgData name="Das, Abhranil" userId="9c3bab5a-3d97-44f6-bde7-7d357481cb18" providerId="ADAL" clId="{545A2A83-3C32-46C8-8E55-C1F449DB9562}" dt="2025-04-14T22:05:55.653" v="0" actId="478"/>
          <ac:spMkLst>
            <pc:docMk/>
            <pc:sldMk cId="2680132195" sldId="273"/>
            <ac:spMk id="6" creationId="{32E7AD3B-1327-4F95-BD90-083068B6F486}"/>
          </ac:spMkLst>
        </pc:spChg>
        <pc:spChg chg="add del mod">
          <ac:chgData name="Das, Abhranil" userId="9c3bab5a-3d97-44f6-bde7-7d357481cb18" providerId="ADAL" clId="{545A2A83-3C32-46C8-8E55-C1F449DB9562}" dt="2025-04-14T22:11:39.249" v="4" actId="478"/>
          <ac:spMkLst>
            <pc:docMk/>
            <pc:sldMk cId="2680132195" sldId="273"/>
            <ac:spMk id="8" creationId="{2B7AAEDB-55F2-43BF-82F8-EE18BD909E23}"/>
          </ac:spMkLst>
        </pc:spChg>
        <pc:picChg chg="add mod">
          <ac:chgData name="Das, Abhranil" userId="9c3bab5a-3d97-44f6-bde7-7d357481cb18" providerId="ADAL" clId="{545A2A83-3C32-46C8-8E55-C1F449DB9562}" dt="2025-04-14T22:11:44.892" v="5" actId="1076"/>
          <ac:picMkLst>
            <pc:docMk/>
            <pc:sldMk cId="2680132195" sldId="273"/>
            <ac:picMk id="3" creationId="{2FFAF39D-D174-4862-A04E-A885B4E1CA1B}"/>
          </ac:picMkLst>
        </pc:picChg>
        <pc:picChg chg="del">
          <ac:chgData name="Das, Abhranil" userId="9c3bab5a-3d97-44f6-bde7-7d357481cb18" providerId="ADAL" clId="{545A2A83-3C32-46C8-8E55-C1F449DB9562}" dt="2025-04-14T22:11:36.264" v="3" actId="478"/>
          <ac:picMkLst>
            <pc:docMk/>
            <pc:sldMk cId="2680132195" sldId="273"/>
            <ac:picMk id="5" creationId="{6D4C286C-C044-429C-9CCD-29B4DAA1BE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AE6D6-5E5F-4D24-ABDC-04D94D3F4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7C34A-EF60-4064-A639-B2BB9BD1D1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958D-54FA-4E02-A516-603E962B2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BC41-4189-4EC6-BADC-A6C827B82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C3D72-E533-4BB7-9C49-2D51CBA4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1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E833-7F27-4FC1-86F1-00A05485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C1232-E8AC-4E50-8900-10655B5B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039F0-51B3-4ED5-B521-7311C9A8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B83C-4BCE-41AC-B7AA-9CC030FE4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3FFFB-39D7-4945-BC2C-FF003ECD5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45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C59F-1C2D-40D4-ABB6-1D2A8679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123B4-3D0C-405A-948C-FAA4BC9A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4BF78-57B3-4A28-A01A-AD5715FB7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1AC9D-C6B6-4E39-B80C-489B90494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01777-3382-410B-8B6F-EF6BCFE4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5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9C62-0831-482A-AACA-A28A0C3F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6F44A-3DE8-44B6-86B8-F1E9A1194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4398E-6F3E-4302-BC2F-F0336A58F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B327B-E4F0-48DD-BAE3-00FF07260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21A33-FE13-4062-9C91-CA891F2F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9E118-AC10-4743-A14E-B8FE87FD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33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D65F-89FF-4708-8CDC-C6595930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8EE0E1-7E58-4573-AB3C-9EFAB667B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2EC11-5DA7-4AB7-9789-9682D7683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D0F27-B8E9-4F22-9298-ED2D2D8D4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1DA022-8445-4AE0-B96F-D6084CA1F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EB6E0C-6940-43A6-A554-BE90012CB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A9008-E74D-4F3D-83F8-DD3161FDE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BCE35-8407-490E-B7FC-14C98DE6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938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76A9-09F9-42FB-8BD3-A4F6D2A71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5B2833-14A2-4BE7-A756-8CAD2D16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3BB2CB-F0E3-40C9-8EC8-3FF1642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F6CAF-B0CF-4D5B-8FD3-4CB1AACF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4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FDCC9-1DC4-4D51-AFDE-463DB30B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02110E-B07B-49FB-8D12-4A7D05FE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8AD56-8391-41A6-972E-0772D8C4E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8742-7103-4E42-975A-C1240E2B2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8F99-E3FE-4193-B3FE-BC004E5BC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C667E4-8FC5-43A5-A6C9-15E01C5A2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576DDF-FD88-413D-AE6B-FDDFA4A3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B9B6A2-176A-4EE1-A1CE-19E4587A1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718BA-4255-4786-8016-6F8F1A21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83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C611-0234-4A83-880D-35B7E4109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CF6A8D-AA7B-41F3-BF49-40EB06D718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22BC2-2741-4D1C-8042-2D6FE2FC3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FE4F8-EEDF-49F0-80E0-C2149E4A6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FAF70-264A-4931-BB6B-0C874D328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D0604-3B37-4C85-A324-E3D02E8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03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6E855-ED7C-4DC5-9BCA-3F57F60D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5A55B-D062-4C8F-9075-96BCE0ED1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7A9A8-517D-4A55-95D8-A7D7A89B6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E51F1-1700-4723-B602-E23B33815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C16AE-7866-42FA-9C73-D8D7EA58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665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F8EEB2-7F7A-4CF3-8EE3-417C3B387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32744-B06F-4AFF-AA13-3CF933FFB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75E7-4297-4A7C-9AC5-1F04A1E1C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8FE47-7E91-4D0F-B6E0-B361BE4C3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6B75F-488B-410A-BC05-3A12149D7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58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13C571-62D7-40E1-A898-6593C548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26E2-B2A8-438D-A3F9-26C42EB39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A0C39-8513-4B7D-9C03-2599405A5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00644-97AC-4532-9BEC-6E79812260FC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58DBB-9B51-45AE-B665-D76A856EA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11160-2135-427D-B3FB-7D21AB7607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995BF-A883-4A38-A4A2-2CAFA5EEE6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90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367F6-33A5-4F8D-852F-40D023466E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30" t="4136" b="4678"/>
          <a:stretch/>
        </p:blipFill>
        <p:spPr>
          <a:xfrm>
            <a:off x="2865120" y="1085763"/>
            <a:ext cx="6677520" cy="39678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92B24-096A-4463-B0EF-276783EEF5DA}"/>
              </a:ext>
            </a:extLst>
          </p:cNvPr>
          <p:cNvSpPr txBox="1"/>
          <p:nvPr/>
        </p:nvSpPr>
        <p:spPr>
          <a:xfrm>
            <a:off x="3958748" y="78742"/>
            <a:ext cx="427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PCA coefficients of steerable gradient filters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92BCB6-D230-4800-BE06-337CA344B512}"/>
              </a:ext>
            </a:extLst>
          </p:cNvPr>
          <p:cNvSpPr txBox="1"/>
          <p:nvPr/>
        </p:nvSpPr>
        <p:spPr>
          <a:xfrm>
            <a:off x="1229644" y="1152820"/>
            <a:ext cx="1633076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dirty="0"/>
              <a:t>Horizontal filters: 1px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2px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4px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8px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16px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2D2258-B0A0-4D22-809E-3848CBB6C061}"/>
              </a:ext>
            </a:extLst>
          </p:cNvPr>
          <p:cNvSpPr txBox="1"/>
          <p:nvPr/>
        </p:nvSpPr>
        <p:spPr>
          <a:xfrm>
            <a:off x="1369261" y="3112703"/>
            <a:ext cx="1444691" cy="18928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00" dirty="0"/>
              <a:t>Vertical filters: 1px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2px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4px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8px</a:t>
            </a:r>
          </a:p>
          <a:p>
            <a:pPr algn="r"/>
            <a:endParaRPr lang="en-US" sz="1300" dirty="0"/>
          </a:p>
          <a:p>
            <a:pPr algn="r"/>
            <a:r>
              <a:rPr lang="en-US" sz="1300" dirty="0"/>
              <a:t>16px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8FBE1C-346D-45CE-B21F-F4149A7D406A}"/>
              </a:ext>
            </a:extLst>
          </p:cNvPr>
          <p:cNvSpPr txBox="1"/>
          <p:nvPr/>
        </p:nvSpPr>
        <p:spPr>
          <a:xfrm>
            <a:off x="975361" y="5691273"/>
            <a:ext cx="10765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are the PCA components of the responses of 5 horizontal and 5 vertical gradient filters at different scales, on natural images.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Each column is the coefficients of one principal component, and the columns are sorted by descending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 see that the discovered components flip between vertical and horizontal versions of the same shape.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267E7D-4A2B-47AD-A73F-041790297A4C}"/>
              </a:ext>
            </a:extLst>
          </p:cNvPr>
          <p:cNvSpPr txBox="1"/>
          <p:nvPr/>
        </p:nvSpPr>
        <p:spPr>
          <a:xfrm>
            <a:off x="2932176" y="7164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50.6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AC69FA-E8BA-4A1D-B0FE-0334ED7BC98E}"/>
              </a:ext>
            </a:extLst>
          </p:cNvPr>
          <p:cNvSpPr txBox="1"/>
          <p:nvPr/>
        </p:nvSpPr>
        <p:spPr>
          <a:xfrm>
            <a:off x="3511296" y="7164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37.5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CE9818-276E-4CBE-8A44-14D8FC505B19}"/>
              </a:ext>
            </a:extLst>
          </p:cNvPr>
          <p:cNvSpPr txBox="1"/>
          <p:nvPr/>
        </p:nvSpPr>
        <p:spPr>
          <a:xfrm>
            <a:off x="4151376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5.4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C0168F-C556-4F63-A4CF-3DC1D8666C94}"/>
              </a:ext>
            </a:extLst>
          </p:cNvPr>
          <p:cNvSpPr txBox="1"/>
          <p:nvPr/>
        </p:nvSpPr>
        <p:spPr>
          <a:xfrm>
            <a:off x="4730496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4.5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36095E-70A7-4326-895D-E93B5DE91601}"/>
              </a:ext>
            </a:extLst>
          </p:cNvPr>
          <p:cNvSpPr txBox="1"/>
          <p:nvPr/>
        </p:nvSpPr>
        <p:spPr>
          <a:xfrm>
            <a:off x="7160423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BF2CDE-721F-46B0-96BD-1961D7216FD7}"/>
              </a:ext>
            </a:extLst>
          </p:cNvPr>
          <p:cNvSpPr txBox="1"/>
          <p:nvPr/>
        </p:nvSpPr>
        <p:spPr>
          <a:xfrm>
            <a:off x="5309616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ACE160-9842-4B6D-8FB7-03426A98F708}"/>
              </a:ext>
            </a:extLst>
          </p:cNvPr>
          <p:cNvSpPr txBox="1"/>
          <p:nvPr/>
        </p:nvSpPr>
        <p:spPr>
          <a:xfrm>
            <a:off x="5949696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727D15-B1E3-436E-ABA9-576C01E06A78}"/>
              </a:ext>
            </a:extLst>
          </p:cNvPr>
          <p:cNvSpPr txBox="1"/>
          <p:nvPr/>
        </p:nvSpPr>
        <p:spPr>
          <a:xfrm>
            <a:off x="6528816" y="716431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A4C238-F3D4-4E6F-91CB-5EB2C08E9B60}"/>
              </a:ext>
            </a:extLst>
          </p:cNvPr>
          <p:cNvSpPr txBox="1"/>
          <p:nvPr/>
        </p:nvSpPr>
        <p:spPr>
          <a:xfrm>
            <a:off x="8306471" y="7164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9B85F9-5D99-4DD3-B9BD-28A8FBA0C337}"/>
              </a:ext>
            </a:extLst>
          </p:cNvPr>
          <p:cNvSpPr txBox="1"/>
          <p:nvPr/>
        </p:nvSpPr>
        <p:spPr>
          <a:xfrm>
            <a:off x="7699248" y="7164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0.01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07E6A1-6864-4FF5-B3C4-2A0F68A341C4}"/>
              </a:ext>
            </a:extLst>
          </p:cNvPr>
          <p:cNvSpPr txBox="1"/>
          <p:nvPr/>
        </p:nvSpPr>
        <p:spPr>
          <a:xfrm>
            <a:off x="1229644" y="716431"/>
            <a:ext cx="1766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/>
                </a:solidFill>
              </a:rPr>
              <a:t>% variance explained:</a:t>
            </a:r>
          </a:p>
        </p:txBody>
      </p:sp>
    </p:spTree>
    <p:extLst>
      <p:ext uri="{BB962C8B-B14F-4D97-AF65-F5344CB8AC3E}">
        <p14:creationId xmlns:p14="http://schemas.microsoft.com/office/powerpoint/2010/main" val="2633514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C697962-211B-426B-A5C6-00712E504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173" y="1103757"/>
            <a:ext cx="1724787" cy="17247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D6B3B4-B5FE-4371-928D-A2908613B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72" y="3176397"/>
            <a:ext cx="1724787" cy="17247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FAE867-B702-4860-9505-25059F4A9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293" y="1103757"/>
            <a:ext cx="1724787" cy="17247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5E5EA1B-EAA0-48A4-A866-B99DAD637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6292" y="3176397"/>
            <a:ext cx="1724787" cy="17247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D4B0641-6A21-41B8-BFB5-1A4897ACE2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9413" y="1103757"/>
            <a:ext cx="1724787" cy="17247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6B15A1-A7F0-4E97-9074-CE29361657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9413" y="3176397"/>
            <a:ext cx="1724787" cy="172478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C5B46F3-82FF-40F9-A0CC-FDF798C2B1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2533" y="1103757"/>
            <a:ext cx="1724787" cy="17247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6B0FEE7-EEA3-483B-A517-4475792CC1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2533" y="3176397"/>
            <a:ext cx="1724787" cy="172478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421BC0D-23A2-4BA4-A807-3D517B71A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15653" y="1103757"/>
            <a:ext cx="1724787" cy="172478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47C63A3-EC8B-40E2-804D-3ACBB38497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5652" y="3176397"/>
            <a:ext cx="1724787" cy="1724787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D56EC88-06B6-4BD5-B051-339AF0749B44}"/>
              </a:ext>
            </a:extLst>
          </p:cNvPr>
          <p:cNvSpPr txBox="1"/>
          <p:nvPr/>
        </p:nvSpPr>
        <p:spPr>
          <a:xfrm>
            <a:off x="1548384" y="5657088"/>
            <a:ext cx="9464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are the 10 PCA filters, sorted by variance (col 1 row 1, then col 1 row 2, then col 2 row 1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3151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EF66E9A-90E8-4ED0-8EB2-8C258F3A0456}"/>
              </a:ext>
            </a:extLst>
          </p:cNvPr>
          <p:cNvSpPr txBox="1"/>
          <p:nvPr/>
        </p:nvSpPr>
        <p:spPr>
          <a:xfrm>
            <a:off x="5815583" y="451104"/>
            <a:ext cx="5925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These are the distributions of the PCA scores (i.e. distributions of responses along the PCA axes), ordered by variance.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FAF39D-D174-4862-A04E-A885B4E1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21" y="0"/>
            <a:ext cx="49718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13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34EF82-CEB2-4702-A5C4-59B88A00C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444055"/>
            <a:ext cx="4882324" cy="46187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24A775-70E1-423A-8468-DF69D4269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154" y="444055"/>
            <a:ext cx="4882324" cy="46187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B15C86-E233-48B2-A733-1C764DB91BCE}"/>
              </a:ext>
            </a:extLst>
          </p:cNvPr>
          <p:cNvSpPr txBox="1"/>
          <p:nvPr/>
        </p:nvSpPr>
        <p:spPr>
          <a:xfrm>
            <a:off x="1005840" y="5748528"/>
            <a:ext cx="10509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see that the raw filter responses were correlated across scales in each of the horizontal and vertical sets, but no correlations between horizontal and vertical.</a:t>
            </a:r>
          </a:p>
        </p:txBody>
      </p:sp>
    </p:spTree>
    <p:extLst>
      <p:ext uri="{BB962C8B-B14F-4D97-AF65-F5344CB8AC3E}">
        <p14:creationId xmlns:p14="http://schemas.microsoft.com/office/powerpoint/2010/main" val="1933882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178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Das, Abhranil</dc:creator>
  <cp:lastModifiedBy>Das, Abhranil</cp:lastModifiedBy>
  <cp:revision>1</cp:revision>
  <dcterms:created xsi:type="dcterms:W3CDTF">2025-04-11T21:47:28Z</dcterms:created>
  <dcterms:modified xsi:type="dcterms:W3CDTF">2025-04-14T22:11:46Z</dcterms:modified>
</cp:coreProperties>
</file>