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2F8E"/>
    <a:srgbClr val="EDB120"/>
    <a:srgbClr val="D95319"/>
    <a:srgbClr val="0072BD"/>
    <a:srgbClr val="A2142F"/>
    <a:srgbClr val="4DBEEE"/>
    <a:srgbClr val="77A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3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, Abhranil" userId="9c3bab5a-3d97-44f6-bde7-7d357481cb18" providerId="ADAL" clId="{486D3608-A1FB-4499-A62B-7A40AEBBA33B}"/>
    <pc:docChg chg="undo custSel addSld delSld modSld">
      <pc:chgData name="Das, Abhranil" userId="9c3bab5a-3d97-44f6-bde7-7d357481cb18" providerId="ADAL" clId="{486D3608-A1FB-4499-A62B-7A40AEBBA33B}" dt="2025-04-11T17:50:29.822" v="2007" actId="20577"/>
      <pc:docMkLst>
        <pc:docMk/>
      </pc:docMkLst>
      <pc:sldChg chg="del">
        <pc:chgData name="Das, Abhranil" userId="9c3bab5a-3d97-44f6-bde7-7d357481cb18" providerId="ADAL" clId="{486D3608-A1FB-4499-A62B-7A40AEBBA33B}" dt="2025-04-03T15:19:26.960" v="1890" actId="47"/>
        <pc:sldMkLst>
          <pc:docMk/>
          <pc:sldMk cId="2849727136" sldId="256"/>
        </pc:sldMkLst>
      </pc:sldChg>
      <pc:sldChg chg="delSp modSp mod">
        <pc:chgData name="Das, Abhranil" userId="9c3bab5a-3d97-44f6-bde7-7d357481cb18" providerId="ADAL" clId="{486D3608-A1FB-4499-A62B-7A40AEBBA33B}" dt="2025-04-11T17:50:29.822" v="2007" actId="20577"/>
        <pc:sldMkLst>
          <pc:docMk/>
          <pc:sldMk cId="3865113622" sldId="257"/>
        </pc:sldMkLst>
        <pc:spChg chg="del mod">
          <ac:chgData name="Das, Abhranil" userId="9c3bab5a-3d97-44f6-bde7-7d357481cb18" providerId="ADAL" clId="{486D3608-A1FB-4499-A62B-7A40AEBBA33B}" dt="2025-04-02T17:53:23.547" v="4"/>
          <ac:spMkLst>
            <pc:docMk/>
            <pc:sldMk cId="3865113622" sldId="257"/>
            <ac:spMk id="6" creationId="{0E1D179E-71C1-4F0C-A45A-3BF2DA894356}"/>
          </ac:spMkLst>
        </pc:spChg>
        <pc:spChg chg="mod">
          <ac:chgData name="Das, Abhranil" userId="9c3bab5a-3d97-44f6-bde7-7d357481cb18" providerId="ADAL" clId="{486D3608-A1FB-4499-A62B-7A40AEBBA33B}" dt="2025-04-11T17:50:29.822" v="2007" actId="20577"/>
          <ac:spMkLst>
            <pc:docMk/>
            <pc:sldMk cId="3865113622" sldId="257"/>
            <ac:spMk id="8" creationId="{CCDC37C4-EDD1-46B6-BA14-3FD0DA87ECCF}"/>
          </ac:spMkLst>
        </pc:spChg>
      </pc:sldChg>
      <pc:sldChg chg="addSp delSp modSp new del mod">
        <pc:chgData name="Das, Abhranil" userId="9c3bab5a-3d97-44f6-bde7-7d357481cb18" providerId="ADAL" clId="{486D3608-A1FB-4499-A62B-7A40AEBBA33B}" dt="2025-04-03T16:16:10.020" v="1891" actId="47"/>
        <pc:sldMkLst>
          <pc:docMk/>
          <pc:sldMk cId="504009756" sldId="262"/>
        </pc:sldMkLst>
        <pc:spChg chg="del">
          <ac:chgData name="Das, Abhranil" userId="9c3bab5a-3d97-44f6-bde7-7d357481cb18" providerId="ADAL" clId="{486D3608-A1FB-4499-A62B-7A40AEBBA33B}" dt="2025-04-02T21:55:13.216" v="1250" actId="478"/>
          <ac:spMkLst>
            <pc:docMk/>
            <pc:sldMk cId="504009756" sldId="262"/>
            <ac:spMk id="2" creationId="{77832449-7C92-45EF-AB4F-31CC7EBFDE3F}"/>
          </ac:spMkLst>
        </pc:spChg>
        <pc:spChg chg="del">
          <ac:chgData name="Das, Abhranil" userId="9c3bab5a-3d97-44f6-bde7-7d357481cb18" providerId="ADAL" clId="{486D3608-A1FB-4499-A62B-7A40AEBBA33B}" dt="2025-04-02T21:53:51.377" v="1249" actId="22"/>
          <ac:spMkLst>
            <pc:docMk/>
            <pc:sldMk cId="504009756" sldId="262"/>
            <ac:spMk id="3" creationId="{1641131E-9F69-4882-81DF-906500F82824}"/>
          </ac:spMkLst>
        </pc:spChg>
        <pc:spChg chg="add mod">
          <ac:chgData name="Das, Abhranil" userId="9c3bab5a-3d97-44f6-bde7-7d357481cb18" providerId="ADAL" clId="{486D3608-A1FB-4499-A62B-7A40AEBBA33B}" dt="2025-04-02T21:57:47.205" v="1496" actId="20577"/>
          <ac:spMkLst>
            <pc:docMk/>
            <pc:sldMk cId="504009756" sldId="262"/>
            <ac:spMk id="10" creationId="{1BBCB950-FB3A-47BD-9749-5FBCDEAA458F}"/>
          </ac:spMkLst>
        </pc:spChg>
        <pc:picChg chg="add mod ord">
          <ac:chgData name="Das, Abhranil" userId="9c3bab5a-3d97-44f6-bde7-7d357481cb18" providerId="ADAL" clId="{486D3608-A1FB-4499-A62B-7A40AEBBA33B}" dt="2025-04-02T21:55:14.672" v="1251" actId="1076"/>
          <ac:picMkLst>
            <pc:docMk/>
            <pc:sldMk cId="504009756" sldId="262"/>
            <ac:picMk id="5" creationId="{87CA3505-17AA-4242-B7AD-324F0F1CB123}"/>
          </ac:picMkLst>
        </pc:picChg>
        <pc:picChg chg="add del mod">
          <ac:chgData name="Das, Abhranil" userId="9c3bab5a-3d97-44f6-bde7-7d357481cb18" providerId="ADAL" clId="{486D3608-A1FB-4499-A62B-7A40AEBBA33B}" dt="2025-04-02T21:55:55.008" v="1254" actId="478"/>
          <ac:picMkLst>
            <pc:docMk/>
            <pc:sldMk cId="504009756" sldId="262"/>
            <ac:picMk id="7" creationId="{C173DFCF-5654-4F81-81B3-2169BAE795A5}"/>
          </ac:picMkLst>
        </pc:picChg>
        <pc:picChg chg="add mod">
          <ac:chgData name="Das, Abhranil" userId="9c3bab5a-3d97-44f6-bde7-7d357481cb18" providerId="ADAL" clId="{486D3608-A1FB-4499-A62B-7A40AEBBA33B}" dt="2025-04-02T21:56:03.369" v="1258" actId="14100"/>
          <ac:picMkLst>
            <pc:docMk/>
            <pc:sldMk cId="504009756" sldId="262"/>
            <ac:picMk id="9" creationId="{2E741AAB-CDA3-4C47-ACE6-8FA71F7969A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AF34-DFB5-4016-90CE-E3187D0C9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244A2-897A-4B9A-A751-EC38F9F11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E0A94-71D3-4D5E-8E69-9121BAB3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F254A-C4AB-47F7-944D-99451FEA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EA372-B9C1-4DF5-88C9-F3F9E592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1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9ABB7-D486-4640-AA3F-E98F4F74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2248-8D0B-484C-8670-C8AC5953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4CF60-6E84-4A06-B117-C3B57545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001CB-7384-4165-8E96-6D914947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AE168-436A-46A4-8E5D-9D9AEA58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2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33AE-98D7-4038-8C37-A896CC7C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BDCFF-986D-4F8E-8475-0063A9FD6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02019-599E-40F7-811A-87083AE6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517DB-936F-4F79-8396-BE951C77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ACDC-3CAE-48EB-B899-DE2ACA0E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9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B262-B2C2-4C91-90DC-AF4155EB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D9448-A7A7-4B42-AD42-E67F6F056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CA9AB-57E8-4CC4-88B8-C7F3AA4EC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1C2F4-D301-4066-8883-85015539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2CCE8-C7F9-41B4-BC77-50348934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612E5-BB1E-48FF-90D0-299CD3A8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25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1460-0588-451D-A2CA-3325DEE1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BB952-822F-4225-86AF-F7546311C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77715-A2C2-4E1E-8E61-C30D64119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E3A4FC-60A7-407A-952D-45116948D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40DD9-B6B0-46FB-B3BF-B12B86091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9F615-0C0E-4D52-8197-124B348C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FDAB24-18E7-4F44-93F5-3C7EC3C66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A9D8D-6EFA-4DDC-9218-250744E27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8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523A-C097-4DDD-B036-4C5C2E39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686DB-C4B0-493A-A779-6D6F32BC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4F3C8-564A-4B16-A733-6142E6400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DC532-913B-4CBF-B9D8-50016CFA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3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AA3520-2DA6-4CA0-9C62-0D134990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ADC7C-E85E-43B4-BAA6-A93D0904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48965-4EDB-4116-991F-D556A5FE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1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609C-2457-4F8B-A0FD-E4CC0861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68E18-A171-4AB2-8A75-A6DD7A425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1BCBA-EE5D-4B0B-AC67-09143E2BE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82A4-5360-4A11-A735-0215E4BA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33871-A710-4F95-A30F-FBD054B6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EF6BD-7188-42AA-8D42-6A63BAE4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9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77DB-F899-4BF6-81BA-83837FD1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A9A59-6128-4D3C-AB8E-CB0EF252F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B2F25-8784-4CD6-A8C5-23758219E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B0B15-03E9-4808-B101-C685416D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FF487-2759-4192-81B4-A6D4A581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09A4A-DD22-42DD-A5B4-A70E2FD9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7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2FCD-47B2-45D2-86DE-454E46FE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ACD77-17AF-462A-84FD-FEE84097E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ED3C0-D582-4859-8901-E118910D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D39A-54A5-4452-97F3-5E50673F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13CD-38F8-4B88-A56B-98E7F898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9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E6FC9-CF10-4A27-932D-AA26D9A02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DCE9-8A71-43DE-9A9F-37E2C3699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072E-8422-4518-894D-694A5BE3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C238-E183-496A-B21D-0A0128CE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1843F-65C4-4620-9189-D66644E9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9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57A01E-E8DD-4779-9C7E-C91298A1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91E2C-4155-42C6-AB80-23531A90C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D44D4-8D53-490F-BAEF-6EAE90669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FCB89-F83A-4FBE-9D45-7C934F71EE5E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D4D0-12C0-45DC-BAD1-A4AB4336C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5BE92-7B02-4E66-A7D7-FE7857573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7CE37-25DF-499A-92AB-2851903FB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DC37C4-EDD1-46B6-BA14-3FD0DA87E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5325"/>
            <a:ext cx="10515600" cy="5872348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Efficient coding for general perception</a:t>
            </a:r>
          </a:p>
          <a:p>
            <a:pPr marL="742950" lvl="1" indent="-285750"/>
            <a:r>
              <a:rPr lang="en-US" dirty="0"/>
              <a:t>We take natural images from our database, OTF filter them with the right PPD (100) for the camera.</a:t>
            </a:r>
          </a:p>
          <a:p>
            <a:pPr marL="742950" lvl="1" indent="-285750"/>
            <a:r>
              <a:rPr lang="en-US" dirty="0"/>
              <a:t>Then we take many random patches and sample their greyscale values, and gradient histograms (gradients are computed using steerable filters, then normalized by local luminance and contrast, i.e. local </a:t>
            </a:r>
            <a:r>
              <a:rPr lang="en-US" dirty="0" err="1"/>
              <a:t>sd</a:t>
            </a:r>
            <a:r>
              <a:rPr lang="en-US"/>
              <a:t>). </a:t>
            </a:r>
            <a:r>
              <a:rPr lang="en-US" dirty="0"/>
              <a:t>This gives us CDF’s of these features.</a:t>
            </a:r>
          </a:p>
          <a:p>
            <a:pPr marL="742950" lvl="1" indent="-285750"/>
            <a:r>
              <a:rPr lang="en-US" dirty="0"/>
              <a:t>We then pick efficient-coding bins for these features. We adjust the number of bins for each scale. We save these bins.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Texture discrimination: training</a:t>
            </a:r>
          </a:p>
          <a:p>
            <a:pPr marL="742950" lvl="1" indent="-285750"/>
            <a:r>
              <a:rPr lang="en-US" dirty="0"/>
              <a:t>We take equal numbers of same and different texture patch pairs from the </a:t>
            </a:r>
            <a:r>
              <a:rPr lang="en-US" dirty="0" err="1"/>
              <a:t>Brodatz</a:t>
            </a:r>
            <a:r>
              <a:rPr lang="en-US" dirty="0"/>
              <a:t> texture set, and apply the OTF filter on them.</a:t>
            </a:r>
          </a:p>
          <a:p>
            <a:pPr marL="742950" lvl="1" indent="-285750"/>
            <a:r>
              <a:rPr lang="en-US" dirty="0"/>
              <a:t>For each pair, we compute decision variables for:</a:t>
            </a:r>
          </a:p>
          <a:p>
            <a:pPr marL="1200150" lvl="2" indent="-285750"/>
            <a:r>
              <a:rPr lang="en-US" dirty="0"/>
              <a:t>Power spectrum</a:t>
            </a:r>
          </a:p>
          <a:p>
            <a:pPr marL="1200150" lvl="2" indent="-285750"/>
            <a:r>
              <a:rPr lang="en-US" dirty="0"/>
              <a:t>Greyscale histogram (using the efficient coding bins learned from natural images)</a:t>
            </a:r>
          </a:p>
          <a:p>
            <a:pPr marL="1200150" lvl="2" indent="-285750"/>
            <a:r>
              <a:rPr lang="en-US" dirty="0"/>
              <a:t>Gradient histograms (using efficient-coding bins):</a:t>
            </a:r>
          </a:p>
          <a:p>
            <a:pPr marL="1657350" lvl="3" indent="-285750"/>
            <a:r>
              <a:rPr lang="en-US" dirty="0"/>
              <a:t>Gradient magnitude hist. at 4 scales</a:t>
            </a:r>
          </a:p>
          <a:p>
            <a:pPr marL="1657350" lvl="3" indent="-285750"/>
            <a:r>
              <a:rPr lang="en-US" dirty="0"/>
              <a:t>Gradient orientation hist. at 4 scales</a:t>
            </a:r>
          </a:p>
          <a:p>
            <a:pPr marL="1657350" lvl="3" indent="-285750"/>
            <a:r>
              <a:rPr lang="en-US" dirty="0"/>
              <a:t>Gradient product hist. at 4 scales</a:t>
            </a:r>
          </a:p>
          <a:p>
            <a:pPr marL="1200150" lvl="2" indent="-285750"/>
            <a:r>
              <a:rPr lang="en-US" dirty="0"/>
              <a:t>Edge contour features:</a:t>
            </a:r>
          </a:p>
          <a:p>
            <a:pPr marL="1657350" lvl="3" indent="-285750"/>
            <a:r>
              <a:rPr lang="en-US" dirty="0"/>
              <a:t>Number of detected edge pixels</a:t>
            </a:r>
          </a:p>
          <a:p>
            <a:pPr marL="1657350" lvl="3" indent="-285750"/>
            <a:r>
              <a:rPr lang="en-US" dirty="0"/>
              <a:t>Number of detected edge contours</a:t>
            </a:r>
          </a:p>
          <a:p>
            <a:pPr marL="1657350" lvl="3" indent="-285750"/>
            <a:r>
              <a:rPr lang="en-US" dirty="0"/>
              <a:t>Contour length distribution</a:t>
            </a:r>
          </a:p>
          <a:p>
            <a:pPr marL="1657350" lvl="3" indent="-285750"/>
            <a:r>
              <a:rPr lang="en-US" dirty="0"/>
              <a:t>Contour curvature distribution</a:t>
            </a:r>
          </a:p>
          <a:p>
            <a:pPr marL="742950" lvl="1" indent="-285750"/>
            <a:r>
              <a:rPr lang="en-US" dirty="0"/>
              <a:t>We combine the gradient magnitude </a:t>
            </a:r>
            <a:r>
              <a:rPr lang="en-US" dirty="0" err="1"/>
              <a:t>dv’s</a:t>
            </a:r>
            <a:r>
              <a:rPr lang="en-US" dirty="0"/>
              <a:t> across the 4 scales into one dv. Same for gradient orientation and gradient product. We save these boundary functions.</a:t>
            </a:r>
          </a:p>
          <a:p>
            <a:pPr marL="742950" lvl="1" indent="-285750"/>
            <a:r>
              <a:rPr lang="en-US" dirty="0"/>
              <a:t>We then classify same vs. different using all these </a:t>
            </a:r>
            <a:r>
              <a:rPr lang="en-US" dirty="0" err="1"/>
              <a:t>dv’s</a:t>
            </a:r>
            <a:r>
              <a:rPr lang="en-US" dirty="0"/>
              <a:t>. We save the combined boundary function.</a:t>
            </a:r>
          </a:p>
          <a:p>
            <a:pPr marL="285750" indent="-285750"/>
            <a:r>
              <a:rPr lang="en-US" dirty="0"/>
              <a:t>Texture discrimination: testing</a:t>
            </a:r>
          </a:p>
          <a:p>
            <a:pPr marL="742950" lvl="1" indent="-285750"/>
            <a:r>
              <a:rPr lang="en-US" dirty="0"/>
              <a:t>Given a pair of texture patches, we load the efficient coding bins and compute the different feature </a:t>
            </a:r>
            <a:r>
              <a:rPr lang="en-US" dirty="0" err="1"/>
              <a:t>dv’s</a:t>
            </a:r>
            <a:r>
              <a:rPr lang="en-US" dirty="0"/>
              <a:t>. Then we load the trained boundary functions, and compute the final decision of same/different.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1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FB4A57C-0B43-4064-BAC1-E0C7C9446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2679" y="937502"/>
            <a:ext cx="4657725" cy="3552825"/>
          </a:xfrm>
        </p:spPr>
      </p:pic>
    </p:spTree>
    <p:extLst>
      <p:ext uri="{BB962C8B-B14F-4D97-AF65-F5344CB8AC3E}">
        <p14:creationId xmlns:p14="http://schemas.microsoft.com/office/powerpoint/2010/main" val="208845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C797EE3-294A-4B08-9214-984039469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024" y="331991"/>
            <a:ext cx="3835367" cy="309700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F949B6-A753-4AD2-B047-E764C14EF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819" y="331992"/>
            <a:ext cx="3835367" cy="30970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77E0C6-062D-4543-92AA-D6314C6CC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031" y="331992"/>
            <a:ext cx="3737945" cy="30970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4E2502-F000-4687-9420-E46B13AA9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1739" y="3831384"/>
            <a:ext cx="4143525" cy="280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E95BD-83C0-4E52-AF6C-A5FA79BD9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337"/>
          <a:stretch/>
        </p:blipFill>
        <p:spPr>
          <a:xfrm>
            <a:off x="2456083" y="632155"/>
            <a:ext cx="5066935" cy="4351338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E2BFBCF-E9ED-4419-8417-A5B769B63E25}"/>
              </a:ext>
            </a:extLst>
          </p:cNvPr>
          <p:cNvGrpSpPr/>
          <p:nvPr/>
        </p:nvGrpSpPr>
        <p:grpSpPr>
          <a:xfrm>
            <a:off x="7565541" y="966607"/>
            <a:ext cx="2700547" cy="3125603"/>
            <a:chOff x="7565541" y="966607"/>
            <a:chExt cx="2700547" cy="312560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613256-0D88-4F25-AEF8-CAC39AA3BFF7}"/>
                </a:ext>
              </a:extLst>
            </p:cNvPr>
            <p:cNvSpPr txBox="1"/>
            <p:nvPr/>
          </p:nvSpPr>
          <p:spPr>
            <a:xfrm>
              <a:off x="7570518" y="3753656"/>
              <a:ext cx="1471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2BD"/>
                  </a:solidFill>
                </a:rPr>
                <a:t># of edge pixels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8811CC-0EBA-404C-BBFA-0B9A05BF9C63}"/>
                </a:ext>
              </a:extLst>
            </p:cNvPr>
            <p:cNvSpPr txBox="1"/>
            <p:nvPr/>
          </p:nvSpPr>
          <p:spPr>
            <a:xfrm>
              <a:off x="7570518" y="2565988"/>
              <a:ext cx="1736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95319"/>
                  </a:solidFill>
                </a:rPr>
                <a:t># of edge contours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66A12E-09AC-4A1D-A122-223B4954DB50}"/>
                </a:ext>
              </a:extLst>
            </p:cNvPr>
            <p:cNvSpPr txBox="1"/>
            <p:nvPr/>
          </p:nvSpPr>
          <p:spPr>
            <a:xfrm>
              <a:off x="7565541" y="1716874"/>
              <a:ext cx="24484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EDB120"/>
                  </a:solidFill>
                </a:rPr>
                <a:t>contour length distribution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F6B07F-786D-4DD4-9B7D-ECA8BD72E654}"/>
                </a:ext>
              </a:extLst>
            </p:cNvPr>
            <p:cNvSpPr txBox="1"/>
            <p:nvPr/>
          </p:nvSpPr>
          <p:spPr>
            <a:xfrm>
              <a:off x="7565541" y="966607"/>
              <a:ext cx="2700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E2F8E"/>
                  </a:solidFill>
                </a:rPr>
                <a:t>contour curvature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678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467F6-F45B-4FD4-A9E9-EF251B7E8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62"/>
          <a:stretch/>
        </p:blipFill>
        <p:spPr>
          <a:xfrm>
            <a:off x="1661874" y="834035"/>
            <a:ext cx="5261441" cy="4351338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988D754-F1B7-47B7-BF9E-ACEA3581E78B}"/>
              </a:ext>
            </a:extLst>
          </p:cNvPr>
          <p:cNvGrpSpPr/>
          <p:nvPr/>
        </p:nvGrpSpPr>
        <p:grpSpPr>
          <a:xfrm>
            <a:off x="6918336" y="959749"/>
            <a:ext cx="2739765" cy="3481729"/>
            <a:chOff x="6918336" y="959749"/>
            <a:chExt cx="2739765" cy="348172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C9BBBA1-E4F8-418C-A799-2E9950F3E2D8}"/>
                </a:ext>
              </a:extLst>
            </p:cNvPr>
            <p:cNvSpPr txBox="1"/>
            <p:nvPr/>
          </p:nvSpPr>
          <p:spPr>
            <a:xfrm>
              <a:off x="6923315" y="4102924"/>
              <a:ext cx="15558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2BD"/>
                  </a:solidFill>
                </a:rPr>
                <a:t>power spectrum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A7AF24-D07D-4474-A21F-DD6E32EA960A}"/>
                </a:ext>
              </a:extLst>
            </p:cNvPr>
            <p:cNvSpPr txBox="1"/>
            <p:nvPr/>
          </p:nvSpPr>
          <p:spPr>
            <a:xfrm>
              <a:off x="6923314" y="3428409"/>
              <a:ext cx="18676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95319"/>
                  </a:solidFill>
                </a:rPr>
                <a:t>greyscale histogram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E26C1D-059E-43E7-AFB5-BF30CDD04FB1}"/>
                </a:ext>
              </a:extLst>
            </p:cNvPr>
            <p:cNvSpPr txBox="1"/>
            <p:nvPr/>
          </p:nvSpPr>
          <p:spPr>
            <a:xfrm>
              <a:off x="6923313" y="2840427"/>
              <a:ext cx="27347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EDB120"/>
                  </a:solidFill>
                </a:rPr>
                <a:t>gradient magnitude histogram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4BC655-4234-4661-A3C1-1040E86443FF}"/>
                </a:ext>
              </a:extLst>
            </p:cNvPr>
            <p:cNvSpPr txBox="1"/>
            <p:nvPr/>
          </p:nvSpPr>
          <p:spPr>
            <a:xfrm>
              <a:off x="6923313" y="2442440"/>
              <a:ext cx="27332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E2F8E"/>
                  </a:solidFill>
                </a:rPr>
                <a:t>gradient orientation histogram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DB151D-8564-4631-8551-C5116AE0EEEB}"/>
                </a:ext>
              </a:extLst>
            </p:cNvPr>
            <p:cNvSpPr txBox="1"/>
            <p:nvPr/>
          </p:nvSpPr>
          <p:spPr>
            <a:xfrm>
              <a:off x="6923313" y="2134484"/>
              <a:ext cx="24589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77AC30"/>
                  </a:solidFill>
                </a:rPr>
                <a:t>gradient product histogram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BA81D6-1DCF-42AC-8D0D-0E3621835645}"/>
                </a:ext>
              </a:extLst>
            </p:cNvPr>
            <p:cNvSpPr txBox="1"/>
            <p:nvPr/>
          </p:nvSpPr>
          <p:spPr>
            <a:xfrm>
              <a:off x="6923313" y="1853604"/>
              <a:ext cx="14711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4DBEEE"/>
                  </a:solidFill>
                </a:rPr>
                <a:t># of edge pixels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B43AEA-9A7C-4FC3-B6F9-757FFD4944FF}"/>
                </a:ext>
              </a:extLst>
            </p:cNvPr>
            <p:cNvSpPr txBox="1"/>
            <p:nvPr/>
          </p:nvSpPr>
          <p:spPr>
            <a:xfrm>
              <a:off x="6923313" y="1485334"/>
              <a:ext cx="1736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A2142F"/>
                  </a:solidFill>
                </a:rPr>
                <a:t># of edge contours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86FC9B-74E5-4C74-A6E9-F57CF497AB61}"/>
                </a:ext>
              </a:extLst>
            </p:cNvPr>
            <p:cNvSpPr txBox="1"/>
            <p:nvPr/>
          </p:nvSpPr>
          <p:spPr>
            <a:xfrm>
              <a:off x="6918336" y="1155760"/>
              <a:ext cx="24484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72BD"/>
                  </a:solidFill>
                </a:rPr>
                <a:t>contour length distribution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A55EED-849E-43EB-BA6C-ACB7D2DC5136}"/>
                </a:ext>
              </a:extLst>
            </p:cNvPr>
            <p:cNvSpPr txBox="1"/>
            <p:nvPr/>
          </p:nvSpPr>
          <p:spPr>
            <a:xfrm>
              <a:off x="6918336" y="959749"/>
              <a:ext cx="27005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D95319"/>
                  </a:solidFill>
                </a:rPr>
                <a:t>contour curvature distribution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965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329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Abhranil</dc:creator>
  <cp:lastModifiedBy>Das, Abhranil</cp:lastModifiedBy>
  <cp:revision>8</cp:revision>
  <dcterms:created xsi:type="dcterms:W3CDTF">2025-04-02T17:43:46Z</dcterms:created>
  <dcterms:modified xsi:type="dcterms:W3CDTF">2025-04-11T17:50:32Z</dcterms:modified>
</cp:coreProperties>
</file>